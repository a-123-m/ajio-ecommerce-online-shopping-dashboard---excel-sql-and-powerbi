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29500" y="-9525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5275" y="571500"/>
            <a:ext cx="116014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5" b="1" i="0" u="none">
                <a:solidFill>
                  <a:srgbClr val="FFFFFF"/>
                </a:solidFill>
                <a:latin typeface="Urbanist"/>
              </a:rPr>
              <a:t>AJIO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1638300"/>
            <a:ext cx="11601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0" i="0" u="none">
                <a:solidFill>
                  <a:srgbClr val="FFFFFF"/>
                </a:solidFill>
                <a:latin typeface="Urbanist"/>
              </a:rPr>
              <a:t>BRAND &amp; DEVELOPER GUIDELINES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2457450"/>
            <a:ext cx="1143000" cy="5715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8956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DM Sans"/>
              </a:rPr>
              <a:t>Visual language standards for BI, Dashboards &amp; Digital Product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10000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DM Sans"/>
              </a:rPr>
              <a:t>Version 1.0 | Relance Retail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CONTENTS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0125" y="2376487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01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Brand Color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2900362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02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Background &amp;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424237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03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Chart Color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948112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04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Bar &amp; Column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471987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05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Line &amp; Area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995862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06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KPI Cards &amp; Proportions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263842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07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Table &amp; Data Grids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3162300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08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Typography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368617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09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Layout &amp;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4210050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10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Interaction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473392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11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Do's &amp; Don'ts Checklist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14587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8462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2337"/>
            <a:ext cx="2571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6212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10087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33962"/>
            <a:ext cx="2571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2676525"/>
            <a:ext cx="2286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200400"/>
            <a:ext cx="2000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3724275"/>
            <a:ext cx="20002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4248150"/>
            <a:ext cx="20002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477202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38400"/>
            <a:ext cx="2547937" cy="2009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87" y="2438400"/>
            <a:ext cx="2547937" cy="2009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38400"/>
            <a:ext cx="2547937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62" y="2438400"/>
            <a:ext cx="2547937" cy="2009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BRAND COLOR PALETTE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4829175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4B5563"/>
                </a:solidFill>
                <a:latin typeface="DM Sans"/>
              </a:rPr>
              <a:t>"The Ajio palette balances deep professionalism with a vibrant, modern accent for high fashion energy."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852" y="2828925"/>
            <a:ext cx="18552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rbanist"/>
              </a:rPr>
              <a:t>#243545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295650"/>
            <a:ext cx="17668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Ajio Navy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Primary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1540" y="2828925"/>
            <a:ext cx="18552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rbanist"/>
              </a:rPr>
              <a:t>#496379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5712" y="3295650"/>
            <a:ext cx="17668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Blue Bayou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Secondary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5227" y="2828925"/>
            <a:ext cx="18552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43545"/>
                </a:solidFill>
                <a:latin typeface="Urbanist"/>
              </a:rPr>
              <a:t>#FFC107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95650"/>
            <a:ext cx="17668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Fashion Gold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Accent / 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915" y="2828925"/>
            <a:ext cx="18552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43545"/>
                </a:solidFill>
                <a:latin typeface="Urbanist"/>
              </a:rPr>
              <a:t>#F8FAFC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087" y="3295650"/>
            <a:ext cx="17668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Vapor Gray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Neutral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66912"/>
            <a:ext cx="523875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BACKGROUND &amp; SURFACES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371725"/>
            <a:ext cx="523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For internal reporting and dashboard interfaces, maintain high contrast and "breathing room."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1976437"/>
            <a:ext cx="5219700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133725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Canvas: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Always use #FFFFFF or #F8FAFC. No dark mode by default for heavy data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943350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Visual Cards: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Use white fill with a subtle 1px border (#E2E8F0) and soft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752975"/>
            <a:ext cx="4810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Separators: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Use hair-line dividers in #CBD5E1 for sectioning.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28862"/>
            <a:ext cx="3492549" cy="3086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328862"/>
            <a:ext cx="3492549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328862"/>
            <a:ext cx="3492549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CHART COLOR USAGE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4237" y="3509962"/>
            <a:ext cx="284707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43545"/>
                </a:solidFill>
                <a:latin typeface="Urbanist"/>
              </a:rPr>
              <a:t>Single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976687"/>
            <a:ext cx="27114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Default to </a:t>
            </a:r>
            <a:r>
              <a:rPr sz="1500" b="1" i="0" u="none">
                <a:solidFill>
                  <a:srgbClr val="4B5563"/>
                </a:solidFill>
                <a:latin typeface="DM Sans"/>
              </a:rPr>
              <a:t>Ajio Navy (#243545)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. Use Gold only for specific "highlight"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37" y="3509962"/>
            <a:ext cx="284707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43545"/>
                </a:solidFill>
                <a:latin typeface="Urbanist"/>
              </a:rPr>
              <a:t>Multi-Series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324" y="3976687"/>
            <a:ext cx="27114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Follow Navy &gt; Blue Bayou &gt; Vapor Gray &gt; Gold sequence to maintain visual hierarchy.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0836" y="3509962"/>
            <a:ext cx="284707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43545"/>
                </a:solidFill>
                <a:latin typeface="Urbanist"/>
              </a:rPr>
              <a:t>Status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8624" y="3976687"/>
            <a:ext cx="27114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Success: #10B981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Warning: #F59E0B</a:t>
            </a:r>
            <a:r>
              <a:t>
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Alert: #EF4444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675" y="2776537"/>
            <a:ext cx="4000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825" y="2776537"/>
            <a:ext cx="5143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7124" y="2776537"/>
            <a:ext cx="5143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576762"/>
            <a:ext cx="11049000" cy="733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33637"/>
            <a:ext cx="8953500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909887"/>
            <a:ext cx="895350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386137"/>
            <a:ext cx="8953500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862387"/>
            <a:ext cx="895350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433637"/>
            <a:ext cx="8058150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2909887"/>
            <a:ext cx="6715125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3386137"/>
            <a:ext cx="5372100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3862387"/>
            <a:ext cx="4029075" cy="333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BAR &amp; COLUMN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" y="4929187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B5563"/>
                </a:solidFill>
                <a:latin typeface="DM Sans"/>
              </a:rPr>
              <a:t>Design Rule:</a:t>
            </a:r>
            <a:r>
              <a:rPr sz="1200" b="0" i="0" u="none">
                <a:solidFill>
                  <a:srgbClr val="4B5563"/>
                </a:solidFill>
                <a:latin typeface="DM Sans"/>
              </a:rPr>
              <a:t> Use bars for rankings. Sort descending. Minimum gap of 20% between bars. Axis labels should be 10pt Regular DM Sans.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500312"/>
            <a:ext cx="1905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243545"/>
                </a:solidFill>
                <a:latin typeface="DM Sans SemiBold"/>
              </a:rPr>
              <a:t>Women's Ethnic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976562"/>
            <a:ext cx="1905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243545"/>
                </a:solidFill>
                <a:latin typeface="DM Sans SemiBold"/>
              </a:rPr>
              <a:t>Western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452812"/>
            <a:ext cx="1905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243545"/>
                </a:solidFill>
                <a:latin typeface="DM Sans SemiBold"/>
              </a:rPr>
              <a:t>Footwear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929062"/>
            <a:ext cx="1905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243545"/>
                </a:solidFill>
                <a:latin typeface="DM Sans SemiBold"/>
              </a:rPr>
              <a:t>Accessories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LINE &amp; AREA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52637"/>
            <a:ext cx="110490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195887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64748B"/>
                </a:solidFill>
                <a:latin typeface="DM Sans"/>
              </a:rPr>
              <a:t>Guideline:</a:t>
            </a:r>
            <a:r>
              <a:rPr sz="1350" b="0" i="0" u="none">
                <a:solidFill>
                  <a:srgbClr val="64748B"/>
                </a:solidFill>
                <a:latin typeface="DM Sans"/>
              </a:rPr>
              <a:t> Lines should be 2.5pt weight. Use markers only for data points where specific precision is needed on hover. Area fill opacity strictly at 20%.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5238750" cy="2286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0500"/>
            <a:ext cx="5238750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2395537"/>
            <a:ext cx="2381250" cy="2381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KPI CARDS &amp; PROPORTIONS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1750" y="4967287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4B5563"/>
                </a:solidFill>
                <a:latin typeface="DM Sans"/>
              </a:rPr>
              <a:t>Donut Rule:</a:t>
            </a:r>
            <a:r>
              <a:rPr sz="1200" b="0" i="0" u="none">
                <a:solidFill>
                  <a:srgbClr val="4B5563"/>
                </a:solidFill>
                <a:latin typeface="DM Sans"/>
              </a:rPr>
              <a:t> Max 4 slices + "Others". Label values clearly.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2150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B5563"/>
                </a:solidFill>
                <a:latin typeface="DM Sans"/>
              </a:rPr>
              <a:t>GROSS MERCHANDISE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8375"/>
            <a:ext cx="484060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43545"/>
                </a:solidFill>
                <a:latin typeface="Urbanist"/>
              </a:rPr>
              <a:t>₹2,450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48000"/>
            <a:ext cx="4610100" cy="28575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0B981"/>
                </a:solidFill>
                <a:latin typeface="DM Sans"/>
              </a:rPr>
              <a:t>18.2% vs LW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8650"/>
            <a:ext cx="4610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B5563"/>
                </a:solidFill>
                <a:latin typeface="DM Sans"/>
              </a:rPr>
              <a:t>ACTIVE USERS (30D)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14875"/>
            <a:ext cx="484060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43545"/>
                </a:solidFill>
                <a:latin typeface="Urbanist"/>
              </a:rPr>
              <a:t>1.24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57825"/>
            <a:ext cx="46101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64748B"/>
                </a:solidFill>
                <a:latin typeface="DM Sans"/>
              </a:rPr>
              <a:t>Flat vs Prior Month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95625"/>
            <a:ext cx="1238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31078" y="3286125"/>
            <a:ext cx="74009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43545"/>
                </a:solidFill>
                <a:latin typeface="DM Sans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8700" y="3686175"/>
            <a:ext cx="704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DM Sans"/>
              </a:rPr>
              <a:t>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TABLE &amp; DATA GRIDS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09825"/>
          <a:ext cx="11048998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Product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Units Sold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Avg. Discount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Revenue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YoY Growth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Men's Sneakers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14,200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₹4.2 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0B981"/>
                          </a:solidFill>
                          <a:latin typeface="DM Sans SemiBold"/>
                        </a:rPr>
                        <a:t>+14%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Women's Kurtas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32,500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₹8.1 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0B981"/>
                          </a:solidFill>
                          <a:latin typeface="DM Sans SemiBold"/>
                        </a:rPr>
                        <a:t>+22%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Kids' Footwear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8,400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₹1.8 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F4444"/>
                          </a:solidFill>
                          <a:latin typeface="DM Sans SemiBold"/>
                        </a:rPr>
                        <a:t>-4%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Watches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2,100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43545"/>
                          </a:solidFill>
                          <a:latin typeface="DM Sans"/>
                        </a:rPr>
                        <a:t>₹5.4 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0B981"/>
                          </a:solidFill>
                          <a:latin typeface="DM Sans SemiBold"/>
                        </a:rPr>
                        <a:t>+31%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51435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DM Sans"/>
              </a:rPr>
              <a:t>Grid Rule:</a:t>
            </a:r>
            <a:r>
              <a:rPr sz="1200" b="0" i="0" u="none">
                <a:solidFill>
                  <a:srgbClr val="64748B"/>
                </a:solidFill>
                <a:latin typeface="DM Sans"/>
              </a:rPr>
              <a:t> Left-align text, right-align currency/numbers. Header background: #243545. No vertical gridlines allowed.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405187"/>
            <a:ext cx="2988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60266" y="3405187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52020" y="3405187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8394" y="3405187"/>
            <a:ext cx="1669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37650" y="3405187"/>
            <a:ext cx="2082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900487"/>
            <a:ext cx="2988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0266" y="3900487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52020" y="3900487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8394" y="3900487"/>
            <a:ext cx="1669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37650" y="3900487"/>
            <a:ext cx="2082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395787"/>
            <a:ext cx="2988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0266" y="4395787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52020" y="4395787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8394" y="4395787"/>
            <a:ext cx="1669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37650" y="4395787"/>
            <a:ext cx="2082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891087"/>
            <a:ext cx="2988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60266" y="4891087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52020" y="4891087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8394" y="4891087"/>
            <a:ext cx="1669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37650" y="4891087"/>
            <a:ext cx="2082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TYPOGRAPHY &amp; FONT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3105150"/>
            <a:ext cx="52387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0" i="0" u="none">
                <a:solidFill>
                  <a:srgbClr val="243545"/>
                </a:solidFill>
                <a:latin typeface="DM Sans ExtraBold"/>
              </a:rPr>
              <a:t>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43400"/>
            <a:ext cx="52387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DM Sans SemiBold"/>
              </a:rPr>
              <a:t>Urbanist Bold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0375" y="263842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Page Titles: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44pt Urbanist Bold (#243545)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0375" y="3162300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Section Headers: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24pt Urbanist SemiBold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0375" y="368617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Data Labels: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11pt DM Sans Regular (#4B5563)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0375" y="4210050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KPI Metrics: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48pt Urbanist Bold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4733925"/>
            <a:ext cx="4810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Table Content: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10pt DM Sans Regular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957262"/>
            <a:ext cx="50006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LAYOUT &amp;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57262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033587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Maintain a 1920x1080 canvas for dashboards with 40px outer margins.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81337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Header: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Fixed 80px height in Navy.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05212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Sidebar: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Collapsible 240px width.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29087"/>
            <a:ext cx="452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Visual Gap: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24px consistent spacing between all visual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938712"/>
            <a:ext cx="452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4B5563"/>
                </a:solidFill>
                <a:latin typeface="DM Sans"/>
              </a:rPr>
              <a:t>Filter Panel:</a:t>
            </a:r>
            <a:r>
              <a:rPr sz="1500" b="0" i="0" u="none">
                <a:solidFill>
                  <a:srgbClr val="4B5563"/>
                </a:solidFill>
                <a:latin typeface="DM Sans"/>
              </a:rPr>
              <a:t> Right-side drawer for drill-down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33562"/>
            <a:ext cx="5238750" cy="407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33562"/>
            <a:ext cx="5238750" cy="407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43545"/>
                </a:solidFill>
                <a:latin typeface="Urbanist"/>
              </a:rPr>
              <a:t>DO'S &amp; DON'TS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4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2214562"/>
            <a:ext cx="4700587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65F46"/>
                </a:solidFill>
                <a:latin typeface="Urbanist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2214562"/>
            <a:ext cx="4700587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991B1B"/>
                </a:solidFill>
                <a:latin typeface="Urbanist"/>
              </a:rPr>
              <a:t>DON'T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233612"/>
            <a:ext cx="180975" cy="178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1125" y="2624137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Use Navy for all primary chart series.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148012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Ensure 4.5:1 contrast ratio for all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125" y="3671887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Use Gold sparingly as a visual call-to-action.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4195762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Keep chart titles concise and bold.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1125" y="4719637"/>
            <a:ext cx="4048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Maintain alignment across all dashboard cards.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2233612"/>
            <a:ext cx="180975" cy="178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1375" y="2624137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Don't use gradients or 3D effects on charts.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375" y="3148012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Avoid "Pie Charts" with more than 5 slices.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375" y="3671887"/>
            <a:ext cx="4048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Never use generic Red for branding (it signifies Alert).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1375" y="4481512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Don't overcrowd pages; limit to 6 visuals max.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375" y="5005387"/>
            <a:ext cx="40481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DM Sans"/>
              </a:rPr>
              <a:t>Avoid hard black backgrounds for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DM Sans</vt:lpstr>
      <vt:lpstr>DM Sans ExtraBold</vt:lpstr>
      <vt:lpstr>DM Sans SemiBold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C Gopi Mohan</cp:lastModifiedBy>
  <cp:revision>2</cp:revision>
  <dcterms:created xsi:type="dcterms:W3CDTF">2013-01-27T09:14:16Z</dcterms:created>
  <dcterms:modified xsi:type="dcterms:W3CDTF">2026-08-18T04:23:36Z</dcterms:modified>
  <cp:category/>
</cp:coreProperties>
</file>